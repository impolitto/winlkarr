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023360" y="0"/>
            <a:ext cx="73152" cy="51435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583680" y="2286000"/>
            <a:ext cx="2286000" cy="22860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1828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MINISTÈRE DE L'ENSEIGNEMENT SUPÉRIEUR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82880" y="4754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UNIVERSITÉ DE SOUSSE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7498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ISITCOM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28346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82880" y="14173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WinLkar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7160" y="2286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Mobile de Suivi de Bus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28346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06240" y="10972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Rapport de Projet de Fin d'Année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15544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 en Sciences de l'Informatique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Spécialité : Informatique et Multimédia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Année universitaire : 2025 /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77440"/>
            <a:ext cx="4663440" cy="1645920"/>
          </a:xfrm>
          <a:prstGeom prst="rect">
            <a:avLst/>
          </a:prstGeom>
          <a:solidFill>
            <a:srgbClr val="0D2B55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343400" y="24688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Réalisé par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78892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Alaa Eddine Kerkeni  ·  Sadok Belhadj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Abdelaziz Youssef  ·  Ahmed Neji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Mohamed Salah Mejri  ·  Mohamed Karmous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Encadrant pédagogique : ISITCOM Sousse</a:t>
            </a:r>
            <a:endParaRPr lang="en-US" sz="9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6232518-E2AD-2C3F-E994-ED92F5DAA08A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4E4B8C7-A376-B2B4-9223-D5BABBCF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" y="2875437"/>
            <a:ext cx="1905000" cy="1678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91440" cy="1078992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749040" y="1033272"/>
            <a:ext cx="621792" cy="621792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749040" y="10332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00584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générale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4356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&amp; problématique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8686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92040" y="868680"/>
            <a:ext cx="91440" cy="1078992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229600" y="1033272"/>
            <a:ext cx="621792" cy="621792"/>
          </a:xfrm>
          <a:prstGeom prst="ellipse">
            <a:avLst/>
          </a:prstGeom>
          <a:solidFill>
            <a:srgbClr val="1A5276">
              <a:alpha val="15000"/>
            </a:srgbClr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0" y="10332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276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100584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du Projet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14356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Existant · Solution · Méthode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13055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1480" y="2130552"/>
            <a:ext cx="91440" cy="1078992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749040" y="2295144"/>
            <a:ext cx="621792" cy="621792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749040" y="229514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22677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269748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&amp; Planification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13055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92040" y="2130552"/>
            <a:ext cx="91440" cy="1078992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229600" y="2295144"/>
            <a:ext cx="621792" cy="621792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29600" y="229514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22677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269748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Android – Temps réel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39242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11480" y="3392424"/>
            <a:ext cx="91440" cy="1078992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749040" y="3557016"/>
            <a:ext cx="621792" cy="621792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749040" y="35570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3529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94360" y="395935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API – Sécurité – Docker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39242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892040" y="3392424"/>
            <a:ext cx="91440" cy="1078992"/>
          </a:xfrm>
          <a:prstGeom prst="rect">
            <a:avLst/>
          </a:prstGeom>
          <a:solidFill>
            <a:srgbClr val="A855F7"/>
          </a:solidFill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229600" y="3557016"/>
            <a:ext cx="621792" cy="621792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229600" y="35570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</a:rPr>
              <a:t>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74920" y="3529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74920" y="395935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Bilan &amp; Perspectives</a:t>
            </a:r>
            <a:endParaRPr lang="en-US" sz="11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B01A60D-B842-70B1-4D0F-C562299DC586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Générale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286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1170432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80%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Pénétration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smartphones en Tunisie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2286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82296" cy="1170432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249424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altLang="en-US" sz="3000" dirty="0"/>
              <a:t>En cours...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27980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Application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suivi de bus à Sousse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529584"/>
            <a:ext cx="2286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3529584"/>
            <a:ext cx="82296" cy="1170432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360273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55E"/>
                </a:solidFill>
              </a:rPr>
              <a:t>700K+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415137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Habitants dans 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gouvernorat de Sousse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822960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besoin numérique urgent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1207008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usagers des transports en commun à Sousse font face quotidiennement à l'incertitude des horaires et à l'absence totale d'information sur la position des bus.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1865376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problématique centrale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34640" y="2249424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 outil numérique ne permet aux passagers de savoir quand leur bus arrivera, ni aux conducteurs de diffuser leur position GPS en temps réel.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907792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WinLkar — la solution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3291840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 application mobile Android complète combinant Firebase Realtime DB, Google Maps et un backend Node.js, conçue spécifiquement pour la réalité tunisienne.</a:t>
            </a:r>
            <a:endParaRPr lang="en-US" sz="12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7C00D0F-1890-3CC3-BC7B-8004965101C2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Contexte socio-tech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Pénétration smartphones &gt; 80% en Tunisie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Marché des applis de transport quasi-inexistant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Tourisme fort dans la région (Port El Kantaoui)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Contexte technique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manuelle des trajets côté conducteurs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 tableau de bord pour visualiser la flotte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de coordination numérique en temps réel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384048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Étude de l'existant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– pas de suivi bus en Tunisie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Moovit / Trafi – non disponibles en Tunisie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Aucune interface dédiée aux conducteurs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114800" cy="38404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🚌  Positionnement WinLkar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37560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Suivi temps réel ✓  |  Disponible en Tunisie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conducteur dédiée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admin centralisée ✓  |  Gratuit ✓</a:t>
            </a:r>
            <a:endParaRPr lang="en-US" sz="11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9C277D3-E380-FC15-F0E8-7DAB068CF4A2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1033272"/>
            <a:ext cx="502920" cy="502920"/>
          </a:xfrm>
          <a:prstGeom prst="ellipse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1033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78408"/>
            <a:ext cx="7955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passagers ignorent quand le bus arrivera à leur arrêt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Absence totale de suivi GPS temps réel pour les usagers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502920" cy="502920"/>
          </a:xfrm>
          <a:prstGeom prst="ellipse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0040" y="18379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7955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 outil numérique pour les conducteurs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93976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trajets sont déclarés et gérés manuellement, sans coordination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42616"/>
            <a:ext cx="502920" cy="502920"/>
          </a:xfrm>
          <a:prstGeom prst="ellipse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0040" y="26426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7955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de gestion centralisée de la flotte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98648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administrateurs n'ont aucune visibilité sur les bus en 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47288"/>
            <a:ext cx="502920" cy="502920"/>
          </a:xfrm>
          <a:prstGeom prst="ellipse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" y="3447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7955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Frustration, attentes prolongées, sous-utilisation des transports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Aggrave la congestion et la pollution en faveur du transport individuel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502920" cy="502920"/>
          </a:xfrm>
          <a:prstGeom prst="ellipse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0040" y="4251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97096"/>
            <a:ext cx="7955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 mécanisme de réclamation ou d'évaluation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507992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Impossibilité pour les usagers de signaler les incidents ou noter les trajets</a:t>
            </a:r>
            <a:endParaRPr lang="en-US" sz="105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5E06135-4AA7-7E29-1B9B-59123F79F43B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5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Proposée — WinLkar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5720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Composante 1 — Android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64008" cy="96012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Interface Passager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Carte Google Maps, bus en direct,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ETA par station (Formule de Haversine)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64008" cy="96012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25328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Interface Conducteur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Sélection itinéraire, partage GPS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toutes les 3 secondes via Firebase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02736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64008" cy="96012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36484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Interface Admin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Tableau de bord, gestion conducteurs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et flotte, consultation feedbacks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160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4160520" cy="45720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804672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Composante 2 — Backend 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64008" cy="96012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Google Maps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17190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Gestion la position </a:t>
            </a:r>
            <a:r>
              <a:rPr lang="en-US" sz="1050" dirty="0" err="1">
                <a:solidFill>
                  <a:srgbClr val="475569"/>
                </a:solidFill>
              </a:rPr>
              <a:t>d’utilisateurs</a:t>
            </a:r>
            <a:r>
              <a:rPr lang="en-US" sz="1050" dirty="0">
                <a:solidFill>
                  <a:srgbClr val="475569"/>
                </a:solidFill>
              </a:rPr>
              <a:t>, </a:t>
            </a:r>
            <a:r>
              <a:rPr lang="en-US" sz="1050" dirty="0" err="1">
                <a:solidFill>
                  <a:srgbClr val="475569"/>
                </a:solidFill>
              </a:rPr>
              <a:t>trajets</a:t>
            </a:r>
            <a:r>
              <a:rPr lang="en-US" sz="1050" dirty="0">
                <a:solidFill>
                  <a:srgbClr val="475569"/>
                </a:solidFill>
              </a:rPr>
              <a:t>..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487168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46320" y="2487168"/>
            <a:ext cx="64008" cy="96012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983480" y="25328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Google Cloud 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834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Authentification sécurisée,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gestion des rôles (passager/conducteur/admin)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602736"/>
            <a:ext cx="3886200" cy="960120"/>
          </a:xfrm>
          <a:prstGeom prst="rect">
            <a:avLst/>
          </a:prstGeom>
          <a:solidFill>
            <a:srgbClr val="F4F9FC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46320" y="3602736"/>
            <a:ext cx="64008" cy="96012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983480" y="36484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Google Firebase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95020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Gestion des </a:t>
            </a:r>
            <a:r>
              <a:rPr lang="en-US" sz="1050" dirty="0" err="1">
                <a:solidFill>
                  <a:srgbClr val="475569"/>
                </a:solidFill>
              </a:rPr>
              <a:t>réclamations,les</a:t>
            </a:r>
            <a:r>
              <a:rPr lang="en-US" sz="1050" dirty="0">
                <a:solidFill>
                  <a:srgbClr val="475569"/>
                </a:solidFill>
              </a:rPr>
              <a:t> </a:t>
            </a:r>
            <a:r>
              <a:rPr lang="en-US" sz="1050" dirty="0" err="1">
                <a:solidFill>
                  <a:srgbClr val="475569"/>
                </a:solidFill>
              </a:rPr>
              <a:t>comptes</a:t>
            </a:r>
            <a:r>
              <a:rPr lang="en-US" sz="1050" dirty="0">
                <a:solidFill>
                  <a:srgbClr val="475569"/>
                </a:solidFill>
              </a:rPr>
              <a:t> des Chauffeurs</a:t>
            </a:r>
            <a:endParaRPr lang="en-US" sz="10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CCB5927-6411-1EF6-D4E0-A5772FD5222D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Méthodologie de Travail — Scrum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600200" cy="73152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74520" y="960120"/>
            <a:ext cx="137160" cy="36576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777240"/>
            <a:ext cx="1600200" cy="73152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11880" y="960120"/>
            <a:ext cx="137160" cy="36576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11680" y="77724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777240"/>
            <a:ext cx="1600200" cy="73152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349240" y="960120"/>
            <a:ext cx="137160" cy="36576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749040" y="77724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(3 semaines)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777240"/>
            <a:ext cx="1600200" cy="73152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86600" y="960120"/>
            <a:ext cx="137160" cy="36576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0" y="77724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777240"/>
            <a:ext cx="1600200" cy="731520"/>
          </a:xfrm>
          <a:prstGeom prst="rect">
            <a:avLst/>
          </a:prstGeom>
          <a:solidFill>
            <a:srgbClr val="A855F7"/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223760" y="77724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Rétro-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8321040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17373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0040" y="17647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213969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</a:rPr>
              <a:t>Administration ISITCOM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42316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Définit les priorités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du Product Backlog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17373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0" y="1737360"/>
            <a:ext cx="2743200" cy="347472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46120" y="17647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Scrum Master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213969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</a:rPr>
              <a:t>Sadok Belhadj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42316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Facilite le processus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et les cérémonies Scrum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7373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26480" y="1737360"/>
            <a:ext cx="2743200" cy="347472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172200" y="17647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 Team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13969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</a:rPr>
              <a:t>4 développeurs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42316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Conception, réalisation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et tests des fonctionnalités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667586"/>
              </p:ext>
            </p:extLst>
          </p:nvPr>
        </p:nvGraphicFramePr>
        <p:xfrm>
          <a:off x="274320" y="3246120"/>
          <a:ext cx="859536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Contenu principal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Sprint 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 semaine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Initialisation, architecture, configuration Firebase &amp; Android Studio, Product Backlog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Sprint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 semaines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Authentication, app Android (passager/conducteur), Firebase RT DB, Google Maps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Sprint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 semaines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334155"/>
                          </a:solidFill>
                        </a:rPr>
                        <a:t>Backend,réclamations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, notation, </a:t>
                      </a:r>
                      <a:r>
                        <a:rPr lang="en-US" sz="1000" dirty="0" err="1">
                          <a:solidFill>
                            <a:srgbClr val="334155"/>
                          </a:solidFill>
                        </a:rPr>
                        <a:t>historique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ZoneTexte 35">
            <a:extLst>
              <a:ext uri="{FF2B5EF4-FFF2-40B4-BE49-F238E27FC236}">
                <a16:creationId xmlns:a16="http://schemas.microsoft.com/office/drawing/2014/main" id="{C3E76536-F287-1198-DCA4-F0317A26460E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Environnement et Outils de Développement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29968" cy="10972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22C55E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IDE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" y="1298448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1700784"/>
            <a:ext cx="18836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Développement, test et débogage Android (Java SDK 21)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4872" y="80467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404872" y="804672"/>
            <a:ext cx="2029968" cy="109728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96312" y="1005840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F97316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496312" y="10058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Backend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78024" y="1298448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78024" y="1700784"/>
            <a:ext cx="18836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Realtime DB (GPS &lt; 200ms) · Auth · Storage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80467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81144" y="804672"/>
            <a:ext cx="2029968" cy="109728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72584" y="1005840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00B4D8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72584" y="10058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Cartographie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54296" y="1298448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SDK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4296" y="1700784"/>
            <a:ext cx="18836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Carte interactive, marqueurs, InfoWindows, Places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57016" y="2972503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3557016" y="2972503"/>
            <a:ext cx="2029968" cy="109728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3648456" y="3173671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1F2937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648456" y="3173671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Versionnement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30168" y="3466279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30168" y="3868615"/>
            <a:ext cx="18836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Branches : main · develop · feature/*  — 6 devs en parallèle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85432" y="793418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885432" y="793418"/>
            <a:ext cx="2029968" cy="109728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976872" y="994586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DB2777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976872" y="99458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B2777"/>
                </a:solidFill>
              </a:rPr>
              <a:t>Design &amp; UML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58584" y="1287194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Draw.io / Photoshop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58584" y="1689530"/>
            <a:ext cx="18836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Diagrammes UML · Logo WinLkar · Maquettes UI</a:t>
            </a:r>
            <a:endParaRPr lang="en-US" sz="95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B7AFA76-29B8-2578-D75A-C361A638B44C}"/>
              </a:ext>
            </a:extLst>
          </p:cNvPr>
          <p:cNvSpPr txBox="1"/>
          <p:nvPr/>
        </p:nvSpPr>
        <p:spPr>
          <a:xfrm>
            <a:off x="8644597" y="47091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&amp; Planification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5720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Product Backlog  ·  Acteurs  ·  Besoins  ·  Diagramme de CU Global</a:t>
            </a:r>
            <a:endParaRPr lang="en-US" sz="13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5D8116-7102-C637-A640-E86678564198}"/>
              </a:ext>
            </a:extLst>
          </p:cNvPr>
          <p:cNvSpPr txBox="1"/>
          <p:nvPr/>
        </p:nvSpPr>
        <p:spPr>
          <a:xfrm>
            <a:off x="8365834" y="4615934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9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0 — Acteurs &amp; Besoins Fonctionnels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8163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2816352" cy="54864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9184" y="8138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🧍  Passager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2633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Besoins fonctionnels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691640"/>
            <a:ext cx="2633472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2633472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Voir les bus actifs sur la carte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Consulter l'ETA par station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Trouver les bus les plus proches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Soumettre une réclamation / noter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8163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816352" cy="54864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73552" y="8138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🚌  Conducteur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633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Besoins fonctionnels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33472" cy="0"/>
          </a:xfrm>
          <a:prstGeom prst="line">
            <a:avLst/>
          </a:prstGeom>
          <a:noFill/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633472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connecter (Firebase Auth)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Sélectionner l'itinéraire (Places API)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Partager le GPS toutes les 3 secondes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Démarrer / Terminer un trajet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777240"/>
            <a:ext cx="28163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144768" y="777240"/>
            <a:ext cx="2816352" cy="54864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217920" y="8138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🔧  Administrateur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36208" y="1417320"/>
            <a:ext cx="2633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</a:rPr>
              <a:t>Besoins fonctionnels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1691640"/>
            <a:ext cx="2633472" cy="0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36208" y="1737360"/>
            <a:ext cx="2633472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Gérer les comptes conducteurs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Gérer la flotte de bus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Voir les trajets actifs en temps réel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Traiter les feedbacks &amp; réclamations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B737F45-CB79-B590-A39E-996EF91A842A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-94054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0 — Diagramme de Cas d'Utilisation Global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114800"/>
          </a:xfrm>
          <a:prstGeom prst="rect">
            <a:avLst/>
          </a:prstGeom>
          <a:solidFill>
            <a:srgbClr val="F0F7FF"/>
          </a:solidFill>
          <a:ln w="1270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FA3"/>
                </a:solidFill>
              </a:rPr>
              <a:t>📌  Insérer ici le Diagramme de Cas d'Utilisation Global (Figure 2.2 du rapport — page 18)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7FA3"/>
                </a:solidFill>
              </a:rPr>
              <a:t>Acteurs : Passager · Conducteur · Administrateur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7FA3"/>
                </a:solidFill>
              </a:rPr>
              <a:t>Cas principaux : Se connecter · Voir carte · Gérer conducteurs · Partager GPS · Soumettre réclamation · Envoyer feedback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61772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466344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Source : Rapport WinLkar · Chapitre 2 · Section 2.4</a:t>
            </a:r>
            <a:endParaRPr lang="en-US" sz="9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7C73E79-232B-7ACE-C3A0-AF842C8D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318"/>
            <a:ext cx="9144000" cy="478618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64E1AB6-414D-D773-FF40-E1EB6EC01816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</a:t>
            </a: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0 — Product Backlog (16 User Stories)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28600" y="804672"/>
          <a:ext cx="8229600" cy="41148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Acteur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 (En tant que… je veux…)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Créer un compte pour accéder aux fonctionnalités personnalisées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Me connecter avec mes identifiants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Conducteur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Gérer mes trajets et partager ma position GPS en temps réel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Voir tous les bus actifs sur une carte Google Maps interactive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Voir l'ETA estimé vers chaque arrêt (formule de Haversine)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US08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Gérer les utilisateurs depuis le tableau de bord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Trouver les bus les plus proches de ma position géographique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Noter un trajet de 1 à 5 étoiles et laisser un commentaire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Passager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Soumettre une réclamation concernant un trajet ou un conducteur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US15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Gérer la flotte de bus (ajout, modification, suppression)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Total : 16 user stories · 62 story points · 2 sprints de 3 semaines</a:t>
            </a:r>
            <a:endParaRPr lang="en-US" sz="1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298F48-CC4E-1E5B-0394-0C012129058B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</a:t>
            </a: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Réalisation — Application Android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5720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Suivi GPS temps réel · Carte interactive · ETA Haversine · Interface Conducteur</a:t>
            </a:r>
            <a:endParaRPr lang="en-US" sz="13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29B16BD-A568-D465-652E-38A4B699F55B}"/>
              </a:ext>
            </a:extLst>
          </p:cNvPr>
          <p:cNvSpPr txBox="1"/>
          <p:nvPr/>
        </p:nvSpPr>
        <p:spPr>
          <a:xfrm>
            <a:off x="8278837" y="4615934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13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 — Diagramme de Cas d'Utilisation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114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69494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6B4F"/>
                </a:solidFill>
              </a:rPr>
              <a:t>📌  Insérer ici le Diagramme de Cas d'Utilisation Sprint 1 (Figure 3.1 du rapport — page 29)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E6B4F"/>
                </a:solidFill>
              </a:rPr>
              <a:t>Acteurs : Passager · Conducteur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E6B4F"/>
                </a:solidFill>
              </a:rPr>
              <a:t>Cas : Voir carte bus actifs · Consulter détails/ETA · Sélectionner itinéraire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E6B4F"/>
                </a:solidFill>
              </a:rPr>
              <a:t>→ Se connecter (Firebase Auth) → Démarrer trajet → Publier position GPS → Terminer trajet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61772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466344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Source : Rapport WinLkar · Chapitre 3 · Section 3.3.1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785495"/>
            <a:ext cx="8644255" cy="42735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1BD89B8-B4F4-0DBA-DC20-5A880A1AA88C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14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 — Diagrammes de Séquence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Séquence 1 : Connexion 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4023360" cy="3474720"/>
          </a:xfrm>
          <a:prstGeom prst="rect">
            <a:avLst/>
          </a:prstGeom>
          <a:solidFill>
            <a:srgbClr val="F8FB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3840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📌  Insérer Figure 3.2 du rapport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(page 30)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Flux : Admin → LoginActivity → AdminActivity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saisir admin/admin123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clic loginButton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verif. credentials [OK]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startActivity(AdminActivity)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loadBuses() + loadDrivers()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afficher dashboard admin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38404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00600" y="822960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Séquence 2 : Démarrer un Trajet (GPS)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43584"/>
            <a:ext cx="4023360" cy="3474720"/>
          </a:xfrm>
          <a:prstGeom prst="rect">
            <a:avLst/>
          </a:prstGeom>
          <a:solidFill>
            <a:srgbClr val="F8FB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00600" y="1316736"/>
            <a:ext cx="3840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📌  Insérer Figure 3.3 du rapport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(page 30)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Flux : Chauffeur → DriverActivity → GoogleMap → Firebase RT DB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connexion chauffeur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choisir départ / arrivée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requestLocationPermission()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clic Démarrer → set activeTrips/{busId}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loop [3s] → update lat/lng + lastUpdated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clic Terminer → active=false + supprimer trip</a:t>
            </a:r>
            <a:endParaRPr lang="en-US" sz="105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79C8A0-7612-1C1A-536A-9FBE315FB169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</a:t>
            </a:r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 — Interface Passager &amp; Calcul ETA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7548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73152" cy="93268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9768" y="850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Carte Google Maps Interactive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152144"/>
            <a:ext cx="4572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Marqueurs de tous les bus actifs mis à jour en temps réel via Firebase ChildEventListener. Animation de déplacement entre deux positions GPS.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7548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73152" cy="93268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9768" y="1874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Liste des Stations (All Stations)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176272"/>
            <a:ext cx="4572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10 stations de la région côtière de Sousse : Sousse Centrale, Sahloul, Hammam Sousse, Port El Kantaoui, Monastir Airport… Barre de recherche + bouton Open Map.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47548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73152" cy="93268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9768" y="2898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Formule de Haversine — Calcul ETA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200400"/>
            <a:ext cx="4572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Distance GPS calculée client-side sur un rayon terrestre de 6 371 km. ETA = Distance(km) ÷ 25 km/h, arrondi en minutes. Affiché dans l'InfoWindow de chaque bus.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877056"/>
            <a:ext cx="47548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3877056"/>
            <a:ext cx="73152" cy="93268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29768" y="39227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Design Dark Theme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4224528"/>
            <a:ext cx="4572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Palette bleue et cyan, lisibilité optimale en extérieur. Badge LIVE vert confirmant la connexion Firebase.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804672"/>
            <a:ext cx="3474720" cy="4114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486400" y="91440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532120" y="13716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📱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📌  Insérer ici captures d'écran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de l'interface Passager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(carte + liste stations)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Source : Rapport · §3.5</a:t>
            </a:r>
            <a:endParaRPr lang="en-US" sz="11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A7EA062-A7D4-4F88-0E92-D64ABD150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105" y="804673"/>
            <a:ext cx="2461042" cy="41148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5FFFFC8A-9EC1-A76F-F344-789136255D29}"/>
              </a:ext>
            </a:extLst>
          </p:cNvPr>
          <p:cNvSpPr txBox="1"/>
          <p:nvPr/>
        </p:nvSpPr>
        <p:spPr>
          <a:xfrm>
            <a:off x="8712725" y="4809744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 — Diagramme de Classes &amp; Modèle Firebase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937760" cy="4114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6B4F"/>
                </a:solidFill>
              </a:rPr>
              <a:t>📌  Insérer le Diagramme de Classes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E6B4F"/>
                </a:solidFill>
              </a:rPr>
              <a:t>(Figure 2.3 du rapport — page 19)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E6B4F"/>
                </a:solidFill>
              </a:rPr>
              <a:t>Classes principales 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E6B4F"/>
                </a:solidFill>
              </a:rPr>
              <a:t>ActiveTrip · Station · 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E6B4F"/>
                </a:solidFill>
              </a:rPr>
              <a:t>Driver · Bus · TripRating · Complaint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804672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394960" y="804672"/>
            <a:ext cx="3474720" cy="38404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Structure Firebase Realtime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1298448"/>
            <a:ext cx="33649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532120" y="133502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activeTrips/ {busId}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15544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lat, lng, routeFrom, routeTo,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lastUpdated, active — Public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892808"/>
            <a:ext cx="3364992" cy="512064"/>
          </a:xfrm>
          <a:prstGeom prst="rect">
            <a:avLst/>
          </a:prstGeom>
          <a:solidFill>
            <a:srgbClr val="F4F9FC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532120" y="192938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buses/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214884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Informations flotte — Admin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2487168"/>
            <a:ext cx="33649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532120" y="252374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drivers/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Comptes conducteurs — Admin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40680" y="3081528"/>
            <a:ext cx="3364992" cy="512064"/>
          </a:xfrm>
          <a:prstGeom prst="rect">
            <a:avLst/>
          </a:prstGeom>
          <a:solidFill>
            <a:srgbClr val="F4F9FC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32120" y="311810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stations/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32120" y="333756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Arrêts de bus — Public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3675888"/>
            <a:ext cx="33649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532120" y="371246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feedbacks/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3931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Retours passagers — Auth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4270248"/>
            <a:ext cx="3364992" cy="512064"/>
          </a:xfrm>
          <a:prstGeom prst="rect">
            <a:avLst/>
          </a:prstGeom>
          <a:solidFill>
            <a:srgbClr val="F4F9FC"/>
          </a:solidFill>
          <a:ln w="381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532120" y="430682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complaints/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120" y="45262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Réclamations — Admin</a:t>
            </a:r>
            <a:endParaRPr lang="en-US" sz="9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4684395" cy="4020820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B5037C9-8E84-2D2C-41B1-F2A8F7CDE63B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17</a:t>
            </a: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API · Sécurité · Google Cloud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5720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94A3B8"/>
                </a:solidFill>
              </a:rPr>
              <a:t>Java · Google Firebase · Google Maps API</a:t>
            </a:r>
            <a:endParaRPr lang="en-US" sz="13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2DD83C6-8F0F-6D96-915C-08A29196AF04}"/>
              </a:ext>
            </a:extLst>
          </p:cNvPr>
          <p:cNvSpPr txBox="1"/>
          <p:nvPr/>
        </p:nvSpPr>
        <p:spPr>
          <a:xfrm>
            <a:off x="8229600" y="4615934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18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 — Architecture Technique Backend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91440" cy="96012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Tiers Présentation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App Android (Java)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▼  HTTP/REST  |  GPS sync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5029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91440" cy="960120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Tiers Logique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30428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Google Maps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▼  HTTP/REST  |  GPS sync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5029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91440" cy="96012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06324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Tiers Données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015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Google Firebase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822960"/>
            <a:ext cx="32918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577840" y="822960"/>
            <a:ext cx="3291840" cy="38404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669280" y="8503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Technologique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24473"/>
              </p:ext>
            </p:extLst>
          </p:nvPr>
        </p:nvGraphicFramePr>
        <p:xfrm>
          <a:off x="5577840" y="1243584"/>
          <a:ext cx="329184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Couche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Mobile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Android Java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Cartographie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Google Maps SDK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RT Database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Google Firebase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Authentication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Firebase Auth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API REST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Google Maps API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Persistance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>Google Firebase</a:t>
                      </a:r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Cache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>Google Cloud Platform</a:t>
                      </a:r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Temps réel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GPS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Déploiement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Google Cloud Platform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B5B8A7CB-97C4-A724-B0C0-EF8E203F93A2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19</a:t>
            </a:r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 — Sécurité JWT &amp; API REST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4747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📌  Insérer Figure 4.2 du rapport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(Séquence JWT + Cache Redis)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Flux 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1. POST /auth/login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2. findUser(email) → MongoDB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3. bcrypt.compare(password, hash)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4. Génération token JWT (7 jours)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5. GET /buses → Bearer JWT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6. Cache Redis (30s) → résultat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Source : Rapport · §4.3.2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822960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73152" cy="74980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73168" y="8686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bcrypt (12 rounds)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17043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Hashage sécurisé des mots de passe, résistant aux attaques par force brute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17720" y="1664208"/>
            <a:ext cx="73152" cy="74980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73168" y="17099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JWT expiration 7 jours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201168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Tokens signés avec Google Firebase </a:t>
            </a:r>
            <a:r>
              <a:rPr lang="en-US" sz="1050" dirty="0" err="1">
                <a:solidFill>
                  <a:srgbClr val="475569"/>
                </a:solidFill>
              </a:rPr>
              <a:t>stocké</a:t>
            </a:r>
            <a:r>
              <a:rPr lang="en-US" sz="1050" dirty="0">
                <a:solidFill>
                  <a:srgbClr val="475569"/>
                </a:solidFill>
              </a:rPr>
              <a:t> en variable d'environnement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505456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17720" y="2505456"/>
            <a:ext cx="73152" cy="74980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73168" y="255117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express-rate-limit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285292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Limitation des tentatives de connexion frauduleuses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346704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17720" y="3346704"/>
            <a:ext cx="73152" cy="74980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73168" y="339242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Firebase Security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3694176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activeTrips lecture publique · buses/drivers réservé admin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8115" y="3500120"/>
          <a:ext cx="4377055" cy="1424940"/>
        </p:xfrm>
        <a:graphic>
          <a:graphicData uri="http://schemas.openxmlformats.org/drawingml/2006/table">
            <a:tbl>
              <a:tblPr/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/api/auth/login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Non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82F6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/api/trips/active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Non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/api/trips/start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Driver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/api/complaints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User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DELETE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/api/buses/:id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Admin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8" name="Image 27">
            <a:extLst>
              <a:ext uri="{FF2B5EF4-FFF2-40B4-BE49-F238E27FC236}">
                <a16:creationId xmlns:a16="http://schemas.microsoft.com/office/drawing/2014/main" id="{9851F759-A28A-08F9-ABF9-00D1C31EE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66" y="746362"/>
            <a:ext cx="4187952" cy="274817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5551502-A959-3177-27A8-250DB298B0BE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</a:t>
            </a:r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 — Réalisation &amp; Validation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274320" y="841248"/>
          <a:ext cx="512064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 Stories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Story 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 / 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34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✓ Terminé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Sprint 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 / 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28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✓ Terminé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16 / 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62 pts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✓ Complet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46888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74320" y="2468880"/>
            <a:ext cx="73152" cy="56692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38912" y="250545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Tests Postman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276148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Collection complète couvrant scénarios positifs et négatifs : token invalide, rôle insuffisant, données manquantes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12724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74320" y="3127248"/>
            <a:ext cx="73152" cy="56692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38912" y="3163824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41985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API auto-documentée disponible sur /api/docs — testable directement depuis le navigateur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785616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74320" y="3785616"/>
            <a:ext cx="73152" cy="56692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38912" y="3822192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Tests Android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" y="4078224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Émulateur API 34 (Pixel 6) + appareil physique Samsung Galaxy A54 (Android 14). Tests multi-clients simultanés.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44398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4320" y="4443984"/>
            <a:ext cx="73152" cy="566928"/>
          </a:xfrm>
          <a:prstGeom prst="rect">
            <a:avLst/>
          </a:prstGeom>
          <a:solidFill>
            <a:srgbClr val="3B82F6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38912" y="4480560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Google Cloud Platform 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" y="4736592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3 services orchestrés : Google Maps API · Google Firebase (volume </a:t>
            </a:r>
            <a:r>
              <a:rPr lang="en-US" sz="1000" dirty="0" err="1">
                <a:solidFill>
                  <a:srgbClr val="475569"/>
                </a:solidFill>
              </a:rPr>
              <a:t>persistant</a:t>
            </a:r>
            <a:r>
              <a:rPr lang="en-US" sz="1000" dirty="0">
                <a:solidFill>
                  <a:srgbClr val="475569"/>
                </a:solidFill>
              </a:rPr>
              <a:t>). Déploiement en une commande.</a:t>
            </a:r>
            <a:endParaRPr lang="en-US" sz="1000" dirty="0"/>
          </a:p>
        </p:txBody>
      </p:sp>
      <p:sp>
        <p:nvSpPr>
          <p:cNvPr id="5" name="Shape 19"/>
          <p:cNvSpPr/>
          <p:nvPr/>
        </p:nvSpPr>
        <p:spPr>
          <a:xfrm>
            <a:off x="5676900" y="804545"/>
            <a:ext cx="3192780" cy="4114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5874385" y="914400"/>
            <a:ext cx="2858135" cy="3794760"/>
          </a:xfrm>
          <a:prstGeom prst="roundRect">
            <a:avLst>
              <a:gd name="adj" fmla="val 2892"/>
            </a:avLst>
          </a:prstGeom>
          <a:solidFill>
            <a:srgbClr val="0D2B55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937760" y="1371600"/>
            <a:ext cx="374904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📱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📌  Insérer ici captures d'écran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de l'interface Administrateur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(tableau de bord + gestion)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Source : Rapport · §4.5</a:t>
            </a:r>
            <a:endParaRPr lang="en-US" sz="11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26F068C5-E17F-D0DA-D100-9A44097BF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953" y="865721"/>
            <a:ext cx="2858135" cy="3992447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27A24C57-20F1-AF37-75B5-FF82572FB33C}"/>
              </a:ext>
            </a:extLst>
          </p:cNvPr>
          <p:cNvSpPr txBox="1"/>
          <p:nvPr/>
        </p:nvSpPr>
        <p:spPr>
          <a:xfrm>
            <a:off x="8778240" y="4784719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21</a:t>
            </a:r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55F7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777240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4114800" cy="2450592"/>
          </a:xfrm>
          <a:prstGeom prst="rect">
            <a:avLst/>
          </a:prstGeom>
          <a:solidFill>
            <a:srgbClr val="0D2B55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💻  Bilan Technique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931920" cy="1901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natif Java (ViewBinding, FusedLocationProvider)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Firebase RT DB latence &lt; 500ms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SDK + Places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Cloud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Gradle-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déploiement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conteneurisé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2450592"/>
          </a:xfrm>
          <a:prstGeom prst="rect">
            <a:avLst/>
          </a:prstGeom>
          <a:solidFill>
            <a:srgbClr val="0D2B55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46320" y="950976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📋  Bilan Méthodologique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53312"/>
            <a:ext cx="3931920" cy="1901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Méthode Scrum — 3 sprints (0, 1, 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user stories — 62 story points complétés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branches : main · develop · feature/*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développeurs en parallèle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complète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🔭  Perspectives &amp; Améliorations Futures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83210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Intégration Google Traffic API pour ETA dynamique selon le trafic en temps réel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push (Firebase Cloud Messaging) — alertes d'approche de bus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mobile intégré pour l'achat de tickets en ligne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Déploiement Google Play Store — utilisation publique à Sousse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Intégration</a:t>
            </a: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STS — données officielles du réseau de transport de Sousse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iOS avec Flutter pour couvrir l'ensemble du marché mobile tunisien</a:t>
            </a:r>
            <a:endParaRPr lang="en-US" sz="105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03DB25-89F7-FC49-3B76-C6335759B6DD}"/>
              </a:ext>
            </a:extLst>
          </p:cNvPr>
          <p:cNvSpPr txBox="1"/>
          <p:nvPr/>
        </p:nvSpPr>
        <p:spPr>
          <a:xfrm>
            <a:off x="8644597" y="4709160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22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4*112"/>
  <p:tag name="TABLE_ENDDRAG_RECT" val="12*275*344*1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2095</Words>
  <Application>Microsoft Office PowerPoint</Application>
  <PresentationFormat>Affichage à l'écran (16:9)</PresentationFormat>
  <Paragraphs>480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WinLkar – Application Mobile de Suivi de Bus</dc:title>
  <dc:subject>PptxGenJS Presentation</dc:subject>
  <dc:creator>Équipe WinLkar - ISITCOM Sousse</dc:creator>
  <cp:lastModifiedBy>karkenialaeddine</cp:lastModifiedBy>
  <cp:revision>12</cp:revision>
  <dcterms:created xsi:type="dcterms:W3CDTF">2026-04-25T19:12:00Z</dcterms:created>
  <dcterms:modified xsi:type="dcterms:W3CDTF">2026-04-30T08:10:51Z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836A81FBB03C4828A8E05D44726B9708_12</vt:lpwstr>
  </property>
  <property fmtid="{D5CDD505-2E9C-101B-9397-08002B2CF9AE}" pid="3" name="KSOProductBuildVer">
    <vt:lpwstr>1033-12.1.0.25242</vt:lpwstr>
  </property>
</Properties>
</file>